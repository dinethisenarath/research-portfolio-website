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6"/>
    <p:sldId id="260" r:id="rId7"/>
    <p:sldId id="261" r:id="rId8"/>
    <p:sldId id="286" r:id="rId9"/>
  </p:sldIdLst>
  <p:sldSz cx="18288000" cy="10287000"/>
  <p:notesSz cx="6858000" cy="9144000"/>
  <p:embeddedFontLst>
    <p:embeddedFont>
      <p:font typeface="Bricolage Grotesque Bold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Robot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22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sv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1028700"/>
            <a:ext cx="17259300" cy="8537979"/>
          </a:xfrm>
          <a:custGeom>
            <a:avLst/>
            <a:gdLst/>
            <a:ahLst/>
            <a:cxnLst/>
            <a:rect l="l" t="t" r="r" b="b"/>
            <a:pathLst>
              <a:path w="17259300" h="8537979">
                <a:moveTo>
                  <a:pt x="0" y="0"/>
                </a:moveTo>
                <a:lnTo>
                  <a:pt x="17259300" y="0"/>
                </a:lnTo>
                <a:lnTo>
                  <a:pt x="17259300" y="8537979"/>
                </a:lnTo>
                <a:lnTo>
                  <a:pt x="0" y="8537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 l="-2117" t="-97690" b="-940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762383" y="0"/>
            <a:ext cx="5525617" cy="10287000"/>
          </a:xfrm>
          <a:custGeom>
            <a:avLst/>
            <a:gdLst/>
            <a:ahLst/>
            <a:cxnLst/>
            <a:rect l="l" t="t" r="r" b="b"/>
            <a:pathLst>
              <a:path w="5525617" h="10287000">
                <a:moveTo>
                  <a:pt x="0" y="0"/>
                </a:moveTo>
                <a:lnTo>
                  <a:pt x="5525617" y="0"/>
                </a:lnTo>
                <a:lnTo>
                  <a:pt x="55256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368" r="-8355" b="-101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767147" y="6325773"/>
            <a:ext cx="4840703" cy="5825791"/>
          </a:xfrm>
          <a:custGeom>
            <a:avLst/>
            <a:gdLst/>
            <a:ahLst/>
            <a:cxnLst/>
            <a:rect l="l" t="t" r="r" b="b"/>
            <a:pathLst>
              <a:path w="4840703" h="5825791">
                <a:moveTo>
                  <a:pt x="0" y="0"/>
                </a:moveTo>
                <a:lnTo>
                  <a:pt x="4840703" y="0"/>
                </a:lnTo>
                <a:lnTo>
                  <a:pt x="4840703" y="5825791"/>
                </a:lnTo>
                <a:lnTo>
                  <a:pt x="0" y="58257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356206" y="7730483"/>
            <a:ext cx="1273444" cy="720075"/>
          </a:xfrm>
          <a:custGeom>
            <a:avLst/>
            <a:gdLst/>
            <a:ahLst/>
            <a:cxnLst/>
            <a:rect l="l" t="t" r="r" b="b"/>
            <a:pathLst>
              <a:path w="1273444" h="720075">
                <a:moveTo>
                  <a:pt x="0" y="0"/>
                </a:moveTo>
                <a:lnTo>
                  <a:pt x="1273444" y="0"/>
                </a:lnTo>
                <a:lnTo>
                  <a:pt x="1273444" y="720075"/>
                </a:lnTo>
                <a:lnTo>
                  <a:pt x="0" y="720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058199" y="6654902"/>
            <a:ext cx="2704184" cy="2871238"/>
          </a:xfrm>
          <a:custGeom>
            <a:avLst/>
            <a:gdLst/>
            <a:ahLst/>
            <a:cxnLst/>
            <a:rect l="l" t="t" r="r" b="b"/>
            <a:pathLst>
              <a:path w="2704184" h="2871238">
                <a:moveTo>
                  <a:pt x="0" y="0"/>
                </a:moveTo>
                <a:lnTo>
                  <a:pt x="2704184" y="0"/>
                </a:lnTo>
                <a:lnTo>
                  <a:pt x="2704184" y="2871238"/>
                </a:lnTo>
                <a:lnTo>
                  <a:pt x="0" y="2871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047840" y="85613"/>
            <a:ext cx="6240160" cy="6240160"/>
          </a:xfrm>
          <a:custGeom>
            <a:avLst/>
            <a:gdLst/>
            <a:ahLst/>
            <a:cxnLst/>
            <a:rect l="l" t="t" r="r" b="b"/>
            <a:pathLst>
              <a:path w="6240160" h="6240160">
                <a:moveTo>
                  <a:pt x="0" y="0"/>
                </a:moveTo>
                <a:lnTo>
                  <a:pt x="6240160" y="0"/>
                </a:lnTo>
                <a:lnTo>
                  <a:pt x="6240160" y="6240160"/>
                </a:lnTo>
                <a:lnTo>
                  <a:pt x="0" y="62401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2320376"/>
            <a:ext cx="17833438" cy="188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00"/>
              </a:lnSpc>
            </a:pPr>
            <a:r>
              <a:rPr lang="en-US" sz="14330" b="1" dirty="0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SAFE BAND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9591" y="4726263"/>
            <a:ext cx="15700119" cy="2645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8"/>
              </a:lnSpc>
            </a:pPr>
            <a:r>
              <a:rPr lang="en-US" sz="7101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AI-POWERED SMART HEALTH </a:t>
            </a:r>
          </a:p>
          <a:p>
            <a:pPr algn="l">
              <a:lnSpc>
                <a:spcPts val="6888"/>
              </a:lnSpc>
            </a:pPr>
            <a:r>
              <a:rPr lang="en-US" sz="7101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MONITORING SYSTEM</a:t>
            </a:r>
          </a:p>
          <a:p>
            <a:pPr algn="l">
              <a:lnSpc>
                <a:spcPts val="6888"/>
              </a:lnSpc>
            </a:pPr>
            <a:endParaRPr lang="en-US" sz="7101" b="1">
              <a:solidFill>
                <a:srgbClr val="00000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124853" y="8536283"/>
            <a:ext cx="5504797" cy="4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3782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R26-IT-057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2" t="-29130" r="-149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3913215" y="1028700"/>
            <a:ext cx="9365976" cy="9297860"/>
          </a:xfrm>
          <a:custGeom>
            <a:avLst/>
            <a:gdLst/>
            <a:ahLst/>
            <a:cxnLst/>
            <a:rect l="l" t="t" r="r" b="b"/>
            <a:pathLst>
              <a:path w="9365976" h="9297860">
                <a:moveTo>
                  <a:pt x="9365977" y="0"/>
                </a:moveTo>
                <a:lnTo>
                  <a:pt x="0" y="0"/>
                </a:lnTo>
                <a:lnTo>
                  <a:pt x="0" y="9297860"/>
                </a:lnTo>
                <a:lnTo>
                  <a:pt x="9365977" y="9297860"/>
                </a:lnTo>
                <a:lnTo>
                  <a:pt x="9365977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48264" y="1028700"/>
            <a:ext cx="16411036" cy="8229600"/>
          </a:xfrm>
          <a:custGeom>
            <a:avLst/>
            <a:gdLst/>
            <a:ahLst/>
            <a:cxnLst/>
            <a:rect l="l" t="t" r="r" b="b"/>
            <a:pathLst>
              <a:path w="16411036" h="8229600">
                <a:moveTo>
                  <a:pt x="0" y="0"/>
                </a:moveTo>
                <a:lnTo>
                  <a:pt x="16411036" y="0"/>
                </a:lnTo>
                <a:lnTo>
                  <a:pt x="164110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t="-200677" r="-77874" b="-2006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569408"/>
            <a:ext cx="13036192" cy="12022595"/>
          </a:xfrm>
          <a:custGeom>
            <a:avLst/>
            <a:gdLst/>
            <a:ahLst/>
            <a:cxnLst/>
            <a:rect l="l" t="t" r="r" b="b"/>
            <a:pathLst>
              <a:path w="13036192" h="12022595">
                <a:moveTo>
                  <a:pt x="0" y="0"/>
                </a:moveTo>
                <a:lnTo>
                  <a:pt x="13036192" y="0"/>
                </a:lnTo>
                <a:lnTo>
                  <a:pt x="13036192" y="12022595"/>
                </a:lnTo>
                <a:lnTo>
                  <a:pt x="0" y="120225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7000"/>
            </a:blip>
            <a:stretch>
              <a:fillRect t="-31221" b="-312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134475" y="569408"/>
            <a:ext cx="8205518" cy="12022595"/>
          </a:xfrm>
          <a:custGeom>
            <a:avLst/>
            <a:gdLst/>
            <a:ahLst/>
            <a:cxnLst/>
            <a:rect l="l" t="t" r="r" b="b"/>
            <a:pathLst>
              <a:path w="8205518" h="12022595">
                <a:moveTo>
                  <a:pt x="0" y="0"/>
                </a:moveTo>
                <a:lnTo>
                  <a:pt x="8205518" y="0"/>
                </a:lnTo>
                <a:lnTo>
                  <a:pt x="8205518" y="12022595"/>
                </a:lnTo>
                <a:lnTo>
                  <a:pt x="0" y="120225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7000"/>
            </a:blip>
            <a:stretch>
              <a:fillRect t="-1124" b="-1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81985" y="5194165"/>
            <a:ext cx="3909673" cy="4064135"/>
            <a:chOff x="0" y="0"/>
            <a:chExt cx="1029708" cy="10703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9708" cy="1070390"/>
            </a:xfrm>
            <a:custGeom>
              <a:avLst/>
              <a:gdLst/>
              <a:ahLst/>
              <a:cxnLst/>
              <a:rect l="l" t="t" r="r" b="b"/>
              <a:pathLst>
                <a:path w="1029708" h="1070390">
                  <a:moveTo>
                    <a:pt x="0" y="0"/>
                  </a:moveTo>
                  <a:lnTo>
                    <a:pt x="1029708" y="0"/>
                  </a:lnTo>
                  <a:lnTo>
                    <a:pt x="1029708" y="1070390"/>
                  </a:lnTo>
                  <a:lnTo>
                    <a:pt x="0" y="1070390"/>
                  </a:lnTo>
                  <a:close/>
                </a:path>
              </a:pathLst>
            </a:custGeom>
            <a:solidFill>
              <a:srgbClr val="F94E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29708" cy="1108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997039" y="5676630"/>
            <a:ext cx="1156345" cy="1156345"/>
          </a:xfrm>
          <a:custGeom>
            <a:avLst/>
            <a:gdLst/>
            <a:ahLst/>
            <a:cxnLst/>
            <a:rect l="l" t="t" r="r" b="b"/>
            <a:pathLst>
              <a:path w="1156345" h="1156345">
                <a:moveTo>
                  <a:pt x="0" y="0"/>
                </a:moveTo>
                <a:lnTo>
                  <a:pt x="1156345" y="0"/>
                </a:lnTo>
                <a:lnTo>
                  <a:pt x="1156345" y="1156344"/>
                </a:lnTo>
                <a:lnTo>
                  <a:pt x="0" y="11563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48264" y="2826956"/>
            <a:ext cx="15588053" cy="210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24"/>
              </a:lnSpc>
              <a:buFont typeface="Arial"/>
              <a:buChar char="•"/>
            </a:pPr>
            <a:r>
              <a:rPr lang="en-US" sz="2499" b="1">
                <a:solidFill>
                  <a:srgbClr val="8D140B"/>
                </a:solidFill>
                <a:latin typeface="Inter Bold"/>
                <a:ea typeface="Inter Bold"/>
                <a:cs typeface="Inter Bold"/>
                <a:sym typeface="Inter Bold"/>
              </a:rPr>
              <a:t>Safe Band</a:t>
            </a:r>
            <a:r>
              <a:rPr lang="en-US" sz="2499" b="1">
                <a:solidFill>
                  <a:srgbClr val="F94E4B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is a multi-component IoT health platform built around an Android smartwatch.</a:t>
            </a:r>
          </a:p>
          <a:p>
            <a:pPr marL="539749" lvl="1" indent="-269875" algn="l">
              <a:lnSpc>
                <a:spcPts val="3424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It continuously monitors patient vitals, detects emergencies using Machine Learning, dispatches ambulances automatically, and supports clinical staff through intelligent dashboards  all designed specifically for Sri Lanka's healthcare landscape.</a:t>
            </a:r>
          </a:p>
          <a:p>
            <a:pPr algn="l">
              <a:lnSpc>
                <a:spcPts val="3192"/>
              </a:lnSpc>
            </a:pPr>
            <a:endParaRPr lang="en-US" sz="249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867884" y="5194165"/>
            <a:ext cx="3909673" cy="4064135"/>
            <a:chOff x="0" y="0"/>
            <a:chExt cx="1029708" cy="1070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9708" cy="1070390"/>
            </a:xfrm>
            <a:custGeom>
              <a:avLst/>
              <a:gdLst/>
              <a:ahLst/>
              <a:cxnLst/>
              <a:rect l="l" t="t" r="r" b="b"/>
              <a:pathLst>
                <a:path w="1029708" h="1070390">
                  <a:moveTo>
                    <a:pt x="0" y="0"/>
                  </a:moveTo>
                  <a:lnTo>
                    <a:pt x="1029708" y="0"/>
                  </a:lnTo>
                  <a:lnTo>
                    <a:pt x="1029708" y="1070390"/>
                  </a:lnTo>
                  <a:lnTo>
                    <a:pt x="0" y="1070390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29708" cy="1108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53782" y="5194165"/>
            <a:ext cx="3909673" cy="4064135"/>
            <a:chOff x="0" y="0"/>
            <a:chExt cx="1029708" cy="10703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9708" cy="1070390"/>
            </a:xfrm>
            <a:custGeom>
              <a:avLst/>
              <a:gdLst/>
              <a:ahLst/>
              <a:cxnLst/>
              <a:rect l="l" t="t" r="r" b="b"/>
              <a:pathLst>
                <a:path w="1029708" h="1070390">
                  <a:moveTo>
                    <a:pt x="0" y="0"/>
                  </a:moveTo>
                  <a:lnTo>
                    <a:pt x="1029708" y="0"/>
                  </a:lnTo>
                  <a:lnTo>
                    <a:pt x="1029708" y="1070390"/>
                  </a:lnTo>
                  <a:lnTo>
                    <a:pt x="0" y="107039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29708" cy="1108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237234" y="5194165"/>
            <a:ext cx="3909673" cy="4064135"/>
            <a:chOff x="0" y="0"/>
            <a:chExt cx="1029708" cy="10703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9708" cy="1070390"/>
            </a:xfrm>
            <a:custGeom>
              <a:avLst/>
              <a:gdLst/>
              <a:ahLst/>
              <a:cxnLst/>
              <a:rect l="l" t="t" r="r" b="b"/>
              <a:pathLst>
                <a:path w="1029708" h="1070390">
                  <a:moveTo>
                    <a:pt x="0" y="0"/>
                  </a:moveTo>
                  <a:lnTo>
                    <a:pt x="1029708" y="0"/>
                  </a:lnTo>
                  <a:lnTo>
                    <a:pt x="1029708" y="1070390"/>
                  </a:lnTo>
                  <a:lnTo>
                    <a:pt x="0" y="107039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29708" cy="1108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353092" y="5639271"/>
            <a:ext cx="1193704" cy="1193704"/>
          </a:xfrm>
          <a:custGeom>
            <a:avLst/>
            <a:gdLst/>
            <a:ahLst/>
            <a:cxnLst/>
            <a:rect l="l" t="t" r="r" b="b"/>
            <a:pathLst>
              <a:path w="1193704" h="1193704">
                <a:moveTo>
                  <a:pt x="0" y="0"/>
                </a:moveTo>
                <a:lnTo>
                  <a:pt x="1193704" y="0"/>
                </a:lnTo>
                <a:lnTo>
                  <a:pt x="1193704" y="1193703"/>
                </a:lnTo>
                <a:lnTo>
                  <a:pt x="0" y="1193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434481" y="5639271"/>
            <a:ext cx="1145830" cy="1145830"/>
          </a:xfrm>
          <a:custGeom>
            <a:avLst/>
            <a:gdLst/>
            <a:ahLst/>
            <a:cxnLst/>
            <a:rect l="l" t="t" r="r" b="b"/>
            <a:pathLst>
              <a:path w="1145830" h="1145830">
                <a:moveTo>
                  <a:pt x="0" y="0"/>
                </a:moveTo>
                <a:lnTo>
                  <a:pt x="1145830" y="0"/>
                </a:lnTo>
                <a:lnTo>
                  <a:pt x="1145830" y="1145830"/>
                </a:lnTo>
                <a:lnTo>
                  <a:pt x="0" y="11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4683420" y="5727472"/>
            <a:ext cx="1017302" cy="1017302"/>
          </a:xfrm>
          <a:custGeom>
            <a:avLst/>
            <a:gdLst/>
            <a:ahLst/>
            <a:cxnLst/>
            <a:rect l="l" t="t" r="r" b="b"/>
            <a:pathLst>
              <a:path w="1017302" h="1017302">
                <a:moveTo>
                  <a:pt x="0" y="0"/>
                </a:moveTo>
                <a:lnTo>
                  <a:pt x="1017301" y="0"/>
                </a:lnTo>
                <a:lnTo>
                  <a:pt x="1017301" y="1017301"/>
                </a:lnTo>
                <a:lnTo>
                  <a:pt x="0" y="10173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798008"/>
            <a:ext cx="13398281" cy="1409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3"/>
              </a:lnSpc>
            </a:pPr>
            <a:r>
              <a:rPr lang="en-US" sz="10766" b="1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8404" y="6957425"/>
            <a:ext cx="2913615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Emergency Detection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931606" y="6957425"/>
            <a:ext cx="378223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Ambulance Dispatch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74831" y="6957425"/>
            <a:ext cx="3465129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Ward Monitoring &amp; Alerts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525431" y="6957425"/>
            <a:ext cx="301461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Heart Risk Prediction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666" b="-11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818079" y="-1383695"/>
            <a:ext cx="7332686" cy="9249948"/>
          </a:xfrm>
          <a:custGeom>
            <a:avLst/>
            <a:gdLst/>
            <a:ahLst/>
            <a:cxnLst/>
            <a:rect l="l" t="t" r="r" b="b"/>
            <a:pathLst>
              <a:path w="7332686" h="9249948">
                <a:moveTo>
                  <a:pt x="0" y="0"/>
                </a:moveTo>
                <a:lnTo>
                  <a:pt x="7332686" y="0"/>
                </a:lnTo>
                <a:lnTo>
                  <a:pt x="7332686" y="9249947"/>
                </a:lnTo>
                <a:lnTo>
                  <a:pt x="0" y="92499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603323"/>
            <a:ext cx="17259300" cy="8654977"/>
          </a:xfrm>
          <a:custGeom>
            <a:avLst/>
            <a:gdLst/>
            <a:ahLst/>
            <a:cxnLst/>
            <a:rect l="l" t="t" r="r" b="b"/>
            <a:pathLst>
              <a:path w="17259300" h="8654977">
                <a:moveTo>
                  <a:pt x="0" y="0"/>
                </a:moveTo>
                <a:lnTo>
                  <a:pt x="17259300" y="0"/>
                </a:lnTo>
                <a:lnTo>
                  <a:pt x="17259300" y="8654977"/>
                </a:lnTo>
                <a:lnTo>
                  <a:pt x="0" y="8654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4000"/>
            </a:blip>
            <a:stretch>
              <a:fillRect t="-200677" r="-77874" b="-2006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742089" y="799640"/>
            <a:ext cx="7459177" cy="7459177"/>
          </a:xfrm>
          <a:custGeom>
            <a:avLst/>
            <a:gdLst/>
            <a:ahLst/>
            <a:cxnLst/>
            <a:rect l="l" t="t" r="r" b="b"/>
            <a:pathLst>
              <a:path w="7459177" h="7459177">
                <a:moveTo>
                  <a:pt x="0" y="0"/>
                </a:moveTo>
                <a:lnTo>
                  <a:pt x="7459178" y="0"/>
                </a:lnTo>
                <a:lnTo>
                  <a:pt x="7459178" y="7459177"/>
                </a:lnTo>
                <a:lnTo>
                  <a:pt x="0" y="7459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57806" y="3570"/>
            <a:ext cx="19034904" cy="10740417"/>
          </a:xfrm>
          <a:custGeom>
            <a:avLst/>
            <a:gdLst/>
            <a:ahLst/>
            <a:cxnLst/>
            <a:rect l="l" t="t" r="r" b="b"/>
            <a:pathLst>
              <a:path w="19034904" h="10740417">
                <a:moveTo>
                  <a:pt x="0" y="0"/>
                </a:moveTo>
                <a:lnTo>
                  <a:pt x="19034904" y="0"/>
                </a:lnTo>
                <a:lnTo>
                  <a:pt x="19034904" y="10740417"/>
                </a:lnTo>
                <a:lnTo>
                  <a:pt x="0" y="10740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 t="-751" b="-7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97960" y="4667660"/>
            <a:ext cx="14383400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Patients with critical conditions are not continuously monitored.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Ambulance dispatch and hospital coordination are often delayed.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Existing smart wearables mainly focus on fitness tracking, not emergency healthcare.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Hospitals face difficulties in monitoring multiple patients efficiently.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Lack of AI-powered predictive healthcare and centralized emergency management systems.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8017" y="891629"/>
            <a:ext cx="13398281" cy="1409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3"/>
              </a:lnSpc>
            </a:pPr>
            <a:r>
              <a:rPr lang="en-US" sz="10766" b="1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PROBLEMS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264" y="2349103"/>
            <a:ext cx="1688677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Emergency healthcare systems in Sri Lanka still rely on manual processes and delayed communication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45552" y="3637053"/>
            <a:ext cx="12049991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AutoNum type="arabicPeriod"/>
            </a:pPr>
            <a:r>
              <a:rPr lang="en-US" sz="2499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 only basic monitoring</a:t>
            </a:r>
          </a:p>
          <a:p>
            <a:pPr marL="539749" lvl="1" indent="-269875" algn="l">
              <a:lnSpc>
                <a:spcPts val="3499"/>
              </a:lnSpc>
              <a:buAutoNum type="arabicPeriod"/>
            </a:pPr>
            <a:r>
              <a:rPr lang="en-US" sz="2499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real-time emergency response</a:t>
            </a:r>
          </a:p>
          <a:p>
            <a:pPr marL="539749" lvl="1" indent="-269875" algn="l">
              <a:lnSpc>
                <a:spcPts val="3499"/>
              </a:lnSpc>
              <a:buAutoNum type="arabicPeriod"/>
            </a:pPr>
            <a:r>
              <a:rPr lang="en-US" sz="2499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Are not connected with hospitals and ambulance services</a:t>
            </a:r>
          </a:p>
          <a:p>
            <a:pPr algn="l">
              <a:lnSpc>
                <a:spcPts val="3499"/>
              </a:lnSpc>
            </a:pPr>
            <a:endParaRPr lang="en-US" sz="2499" b="1" dirty="0">
              <a:solidFill>
                <a:srgbClr val="1800A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48264" y="2819003"/>
            <a:ext cx="1431419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7F16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existing healthcare solutions: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2" t="-29130" r="-149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3913215" y="1028700"/>
            <a:ext cx="9365976" cy="9297860"/>
          </a:xfrm>
          <a:custGeom>
            <a:avLst/>
            <a:gdLst/>
            <a:ahLst/>
            <a:cxnLst/>
            <a:rect l="l" t="t" r="r" b="b"/>
            <a:pathLst>
              <a:path w="9365976" h="9297860">
                <a:moveTo>
                  <a:pt x="9365977" y="0"/>
                </a:moveTo>
                <a:lnTo>
                  <a:pt x="0" y="0"/>
                </a:lnTo>
                <a:lnTo>
                  <a:pt x="0" y="9297860"/>
                </a:lnTo>
                <a:lnTo>
                  <a:pt x="9365977" y="9297860"/>
                </a:lnTo>
                <a:lnTo>
                  <a:pt x="9365977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48264" y="1028700"/>
            <a:ext cx="16411036" cy="8229600"/>
          </a:xfrm>
          <a:custGeom>
            <a:avLst/>
            <a:gdLst/>
            <a:ahLst/>
            <a:cxnLst/>
            <a:rect l="l" t="t" r="r" b="b"/>
            <a:pathLst>
              <a:path w="16411036" h="8229600">
                <a:moveTo>
                  <a:pt x="0" y="0"/>
                </a:moveTo>
                <a:lnTo>
                  <a:pt x="16411036" y="0"/>
                </a:lnTo>
                <a:lnTo>
                  <a:pt x="164110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t="-200677" r="-77874" b="-2006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1028700" y="1048480"/>
            <a:ext cx="5965628" cy="9258300"/>
          </a:xfrm>
          <a:custGeom>
            <a:avLst/>
            <a:gdLst/>
            <a:ahLst/>
            <a:cxnLst/>
            <a:rect l="l" t="t" r="r" b="b"/>
            <a:pathLst>
              <a:path w="5965628" h="9258300">
                <a:moveTo>
                  <a:pt x="0" y="9258300"/>
                </a:moveTo>
                <a:lnTo>
                  <a:pt x="5965628" y="9258300"/>
                </a:lnTo>
                <a:lnTo>
                  <a:pt x="5965628" y="0"/>
                </a:lnTo>
                <a:lnTo>
                  <a:pt x="0" y="0"/>
                </a:lnTo>
                <a:lnTo>
                  <a:pt x="0" y="9258300"/>
                </a:lnTo>
                <a:close/>
              </a:path>
            </a:pathLst>
          </a:custGeom>
          <a:blipFill>
            <a:blip r:embed="rId5">
              <a:alphaModFix amt="57000"/>
            </a:blip>
            <a:stretch>
              <a:fillRect l="-551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652901" y="2768778"/>
            <a:ext cx="15606399" cy="688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Delayed emergency response increases the risk of preventable deaths.</a:t>
            </a:r>
          </a:p>
          <a:p>
            <a:pPr algn="l">
              <a:lnSpc>
                <a:spcPts val="4205"/>
              </a:lnSpc>
              <a:spcBef>
                <a:spcPct val="0"/>
              </a:spcBef>
            </a:pPr>
            <a:endParaRPr lang="en-US" sz="3003" b="1" dirty="0">
              <a:solidFill>
                <a:srgbClr val="1F2B5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Lack of continuous monitoring reduces early detection of critical conditions.</a:t>
            </a:r>
          </a:p>
          <a:p>
            <a:pPr algn="l">
              <a:lnSpc>
                <a:spcPts val="4205"/>
              </a:lnSpc>
              <a:spcBef>
                <a:spcPct val="0"/>
              </a:spcBef>
            </a:pPr>
            <a:endParaRPr lang="en-US" sz="3003" b="1" dirty="0">
              <a:solidFill>
                <a:srgbClr val="1F2B5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Difficulty in tracking patient health conditions for hospitals and healthcare staff.</a:t>
            </a:r>
          </a:p>
          <a:p>
            <a:pPr algn="l">
              <a:lnSpc>
                <a:spcPts val="4205"/>
              </a:lnSpc>
              <a:spcBef>
                <a:spcPct val="0"/>
              </a:spcBef>
            </a:pPr>
            <a:endParaRPr lang="en-US" sz="3003" b="1" dirty="0">
              <a:solidFill>
                <a:srgbClr val="1F2B5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Manual ambulance dispatch reduces emergency response efficiency.</a:t>
            </a:r>
          </a:p>
          <a:p>
            <a:pPr algn="l">
              <a:lnSpc>
                <a:spcPts val="4205"/>
              </a:lnSpc>
              <a:spcBef>
                <a:spcPct val="0"/>
              </a:spcBef>
            </a:pPr>
            <a:endParaRPr lang="en-US" sz="3003" b="1" dirty="0">
              <a:solidFill>
                <a:srgbClr val="1F2B5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Lack of predictive healthcare systems increases pressure on hospitals.</a:t>
            </a:r>
          </a:p>
          <a:p>
            <a:pPr algn="l">
              <a:lnSpc>
                <a:spcPts val="4205"/>
              </a:lnSpc>
              <a:spcBef>
                <a:spcPct val="0"/>
              </a:spcBef>
            </a:pPr>
            <a:endParaRPr lang="en-US" sz="3003" b="1" dirty="0">
              <a:solidFill>
                <a:srgbClr val="1F2B5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AI-powered monitoring improves faster emergency response and patient safety.</a:t>
            </a:r>
          </a:p>
          <a:p>
            <a:pPr algn="l">
              <a:lnSpc>
                <a:spcPts val="4205"/>
              </a:lnSpc>
              <a:spcBef>
                <a:spcPct val="0"/>
              </a:spcBef>
            </a:pPr>
            <a:endParaRPr lang="en-US" sz="3003" b="1" dirty="0">
              <a:solidFill>
                <a:srgbClr val="1F2B5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1F2B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Real-time alerts and hospital notifications enhance healthcare coordination.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264" y="738070"/>
            <a:ext cx="13398281" cy="130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7"/>
              </a:lnSpc>
            </a:pPr>
            <a:r>
              <a:rPr lang="en-US" sz="9966" b="1" dirty="0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IMPACT / GRAVITY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5D0A-D190-04EE-1385-60EF9DDB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F3CA70-4E0C-7845-4A3C-232F2C5B378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2" t="-29130" r="-14966"/>
            </a:stretch>
          </a:blipFill>
        </p:spPr>
        <p:txBody>
          <a:bodyPr/>
          <a:lstStyle/>
          <a:p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9783321-6EAC-648F-5AE8-B4715E92E331}"/>
              </a:ext>
            </a:extLst>
          </p:cNvPr>
          <p:cNvSpPr/>
          <p:nvPr/>
        </p:nvSpPr>
        <p:spPr>
          <a:xfrm flipH="1">
            <a:off x="13913215" y="1028700"/>
            <a:ext cx="9365976" cy="9297860"/>
          </a:xfrm>
          <a:custGeom>
            <a:avLst/>
            <a:gdLst/>
            <a:ahLst/>
            <a:cxnLst/>
            <a:rect l="l" t="t" r="r" b="b"/>
            <a:pathLst>
              <a:path w="9365976" h="9297860">
                <a:moveTo>
                  <a:pt x="9365977" y="0"/>
                </a:moveTo>
                <a:lnTo>
                  <a:pt x="0" y="0"/>
                </a:lnTo>
                <a:lnTo>
                  <a:pt x="0" y="9297860"/>
                </a:lnTo>
                <a:lnTo>
                  <a:pt x="9365977" y="9297860"/>
                </a:lnTo>
                <a:lnTo>
                  <a:pt x="9365977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5BD5C87-186C-F058-96CD-2B18389E75C9}"/>
              </a:ext>
            </a:extLst>
          </p:cNvPr>
          <p:cNvSpPr/>
          <p:nvPr/>
        </p:nvSpPr>
        <p:spPr>
          <a:xfrm>
            <a:off x="848264" y="1028700"/>
            <a:ext cx="16411036" cy="8229600"/>
          </a:xfrm>
          <a:custGeom>
            <a:avLst/>
            <a:gdLst/>
            <a:ahLst/>
            <a:cxnLst/>
            <a:rect l="l" t="t" r="r" b="b"/>
            <a:pathLst>
              <a:path w="16411036" h="8229600">
                <a:moveTo>
                  <a:pt x="0" y="0"/>
                </a:moveTo>
                <a:lnTo>
                  <a:pt x="16411036" y="0"/>
                </a:lnTo>
                <a:lnTo>
                  <a:pt x="164110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t="-200677" r="-77874" b="-2006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2DADB5F1-FA49-FA92-01D5-C3AB75E7B459}"/>
              </a:ext>
            </a:extLst>
          </p:cNvPr>
          <p:cNvSpPr/>
          <p:nvPr/>
        </p:nvSpPr>
        <p:spPr>
          <a:xfrm>
            <a:off x="-865285" y="2945509"/>
            <a:ext cx="4876799" cy="6603421"/>
          </a:xfrm>
          <a:custGeom>
            <a:avLst/>
            <a:gdLst/>
            <a:ahLst/>
            <a:cxnLst/>
            <a:rect l="l" t="t" r="r" b="b"/>
            <a:pathLst>
              <a:path w="4840703" h="5825791">
                <a:moveTo>
                  <a:pt x="0" y="0"/>
                </a:moveTo>
                <a:lnTo>
                  <a:pt x="4840703" y="0"/>
                </a:lnTo>
                <a:lnTo>
                  <a:pt x="4840703" y="5825791"/>
                </a:lnTo>
                <a:lnTo>
                  <a:pt x="0" y="58257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647D048-FF2B-228F-1802-2938FC293DEB}"/>
              </a:ext>
            </a:extLst>
          </p:cNvPr>
          <p:cNvSpPr/>
          <p:nvPr/>
        </p:nvSpPr>
        <p:spPr>
          <a:xfrm flipV="1">
            <a:off x="1028700" y="1048480"/>
            <a:ext cx="5965628" cy="9258300"/>
          </a:xfrm>
          <a:custGeom>
            <a:avLst/>
            <a:gdLst/>
            <a:ahLst/>
            <a:cxnLst/>
            <a:rect l="l" t="t" r="r" b="b"/>
            <a:pathLst>
              <a:path w="5965628" h="9258300">
                <a:moveTo>
                  <a:pt x="0" y="9258300"/>
                </a:moveTo>
                <a:lnTo>
                  <a:pt x="5965628" y="9258300"/>
                </a:lnTo>
                <a:lnTo>
                  <a:pt x="5965628" y="0"/>
                </a:lnTo>
                <a:lnTo>
                  <a:pt x="0" y="0"/>
                </a:lnTo>
                <a:lnTo>
                  <a:pt x="0" y="9258300"/>
                </a:lnTo>
                <a:close/>
              </a:path>
            </a:pathLst>
          </a:custGeom>
          <a:blipFill>
            <a:blip r:embed="rId6">
              <a:alphaModFix amt="57000"/>
            </a:blip>
            <a:stretch>
              <a:fillRect l="-551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22684EA-7732-1B78-6F84-E85D9FE6F979}"/>
              </a:ext>
            </a:extLst>
          </p:cNvPr>
          <p:cNvSpPr txBox="1"/>
          <p:nvPr/>
        </p:nvSpPr>
        <p:spPr>
          <a:xfrm>
            <a:off x="848264" y="738070"/>
            <a:ext cx="13398281" cy="130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7"/>
              </a:lnSpc>
            </a:pPr>
            <a:r>
              <a:rPr lang="en-US" sz="9966" b="1" dirty="0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Main Objectives</a:t>
            </a: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FEBE4354-E953-ED33-899B-56EBD0DF91A5}"/>
              </a:ext>
            </a:extLst>
          </p:cNvPr>
          <p:cNvSpPr txBox="1"/>
          <p:nvPr/>
        </p:nvSpPr>
        <p:spPr>
          <a:xfrm>
            <a:off x="1070344" y="2443741"/>
            <a:ext cx="16006122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>
              <a:buFont typeface="Arial"/>
              <a:buChar char="•"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To design and develop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highlight>
                  <a:srgbClr val="00FFFF"/>
                </a:highlight>
              </a:rPr>
              <a:t>an AI-powered smart wearable system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 that continuously monitors critical vital signs such as Heart Rate, Blood Pressure, SpO2, and ECG in real time.</a:t>
            </a:r>
          </a:p>
          <a:p>
            <a:pPr marL="539749" lvl="1" indent="-269875">
              <a:buFont typeface="Arial"/>
              <a:buChar char="•"/>
            </a:pPr>
            <a:endParaRPr lang="en-US" sz="3200" b="1" dirty="0">
              <a:solidFill>
                <a:schemeClr val="tx2">
                  <a:lumMod val="50000"/>
                </a:scheme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39749" lvl="1" indent="-269875">
              <a:buFont typeface="Arial"/>
              <a:buChar char="•"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To build a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Machine Learning-based Emergency Detection System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that can automatically identify critical health conditions and trigger instant alerts.</a:t>
            </a:r>
          </a:p>
          <a:p>
            <a:pPr marL="539749" lvl="1" indent="-269875">
              <a:buFont typeface="Arial"/>
              <a:buChar char="•"/>
            </a:pPr>
            <a:endParaRPr lang="en-US" sz="3200" b="1" dirty="0">
              <a:solidFill>
                <a:schemeClr val="tx2">
                  <a:lumMod val="50000"/>
                </a:scheme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39749" lvl="1" indent="-269875">
              <a:buFont typeface="Arial"/>
              <a:buChar char="•"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To develop a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Smart Ambulance Dispatch System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 that uses GPS and Machine Learning to identify the nearest hospital and speed up emergency response.</a:t>
            </a:r>
          </a:p>
          <a:p>
            <a:pPr marL="539749" lvl="1" indent="-269875">
              <a:buFont typeface="Arial"/>
              <a:buChar char="•"/>
            </a:pPr>
            <a:endParaRPr lang="en-US" sz="3200" b="1" dirty="0">
              <a:solidFill>
                <a:schemeClr val="tx2">
                  <a:lumMod val="50000"/>
                </a:scheme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39749" lvl="1" indent="-269875">
              <a:buFont typeface="Arial"/>
              <a:buChar char="•"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To create a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centralized Hospital Ward Monitoring system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that helps doctors and nurses track multiple patients and prioritize emergency cases efficiently.</a:t>
            </a:r>
          </a:p>
          <a:p>
            <a:pPr marL="539749" lvl="1" indent="-269875">
              <a:buFont typeface="Arial"/>
              <a:buChar char="•"/>
            </a:pPr>
            <a:endParaRPr lang="en-US" sz="3200" b="1" dirty="0">
              <a:solidFill>
                <a:schemeClr val="tx2">
                  <a:lumMod val="50000"/>
                </a:scheme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39749" lvl="1" indent="-269875">
              <a:buFont typeface="Arial"/>
              <a:buChar char="•"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To implement a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predictive Heart Risk Assessment model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that identifies high-risk patients in advance, enabling proactive and personalized healthcare monitoring.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45632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666" b="-11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666343" y="1028700"/>
            <a:ext cx="7332686" cy="9249948"/>
          </a:xfrm>
          <a:custGeom>
            <a:avLst/>
            <a:gdLst/>
            <a:ahLst/>
            <a:cxnLst/>
            <a:rect l="l" t="t" r="r" b="b"/>
            <a:pathLst>
              <a:path w="7332686" h="9249948">
                <a:moveTo>
                  <a:pt x="0" y="0"/>
                </a:moveTo>
                <a:lnTo>
                  <a:pt x="7332686" y="0"/>
                </a:lnTo>
                <a:lnTo>
                  <a:pt x="7332686" y="9249948"/>
                </a:lnTo>
                <a:lnTo>
                  <a:pt x="0" y="924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932812" y="1731152"/>
            <a:ext cx="6247182" cy="6238694"/>
          </a:xfrm>
          <a:custGeom>
            <a:avLst/>
            <a:gdLst/>
            <a:ahLst/>
            <a:cxnLst/>
            <a:rect l="l" t="t" r="r" b="b"/>
            <a:pathLst>
              <a:path w="6247182" h="6238694">
                <a:moveTo>
                  <a:pt x="0" y="0"/>
                </a:moveTo>
                <a:lnTo>
                  <a:pt x="6247182" y="0"/>
                </a:lnTo>
                <a:lnTo>
                  <a:pt x="6247182" y="6238694"/>
                </a:lnTo>
                <a:lnTo>
                  <a:pt x="0" y="6238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48264" y="1028700"/>
            <a:ext cx="16411036" cy="8229600"/>
          </a:xfrm>
          <a:custGeom>
            <a:avLst/>
            <a:gdLst/>
            <a:ahLst/>
            <a:cxnLst/>
            <a:rect l="l" t="t" r="r" b="b"/>
            <a:pathLst>
              <a:path w="16411036" h="8229600">
                <a:moveTo>
                  <a:pt x="0" y="0"/>
                </a:moveTo>
                <a:lnTo>
                  <a:pt x="16411036" y="0"/>
                </a:lnTo>
                <a:lnTo>
                  <a:pt x="164110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4000"/>
            </a:blip>
            <a:stretch>
              <a:fillRect t="-200677" r="-77874" b="-2006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1293672" y="1028700"/>
            <a:ext cx="5965628" cy="9258300"/>
          </a:xfrm>
          <a:custGeom>
            <a:avLst/>
            <a:gdLst/>
            <a:ahLst/>
            <a:cxnLst/>
            <a:rect l="l" t="t" r="r" b="b"/>
            <a:pathLst>
              <a:path w="5965628" h="9258300">
                <a:moveTo>
                  <a:pt x="5965628" y="9258300"/>
                </a:moveTo>
                <a:lnTo>
                  <a:pt x="0" y="9258300"/>
                </a:lnTo>
                <a:lnTo>
                  <a:pt x="0" y="0"/>
                </a:lnTo>
                <a:lnTo>
                  <a:pt x="5965628" y="0"/>
                </a:lnTo>
                <a:lnTo>
                  <a:pt x="5965628" y="9258300"/>
                </a:lnTo>
                <a:close/>
              </a:path>
            </a:pathLst>
          </a:custGeom>
          <a:blipFill>
            <a:blip r:embed="rId6">
              <a:alphaModFix amt="43999"/>
            </a:blip>
            <a:stretch>
              <a:fillRect l="-551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504547" y="3002504"/>
            <a:ext cx="14562362" cy="427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94E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Primary Users:</a:t>
            </a: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Cardiac patients, elderly individuals, and patients with chronic health conditions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94E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Secondary Users:</a:t>
            </a: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Doctors, nurses, ambulance staff, and emergency healthcare teams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94E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Institutions / Society: </a:t>
            </a: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Hospitals, emergency response services, and the Sri Lankan healthcare sector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4127" y="957223"/>
            <a:ext cx="17259309" cy="115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</a:pPr>
            <a:r>
              <a:rPr lang="en-US" sz="8767" b="1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TARGET USERS &amp; BENEFICIARIES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2" t="-29130" r="-149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896752" y="1463613"/>
            <a:ext cx="9365976" cy="9297860"/>
          </a:xfrm>
          <a:custGeom>
            <a:avLst/>
            <a:gdLst/>
            <a:ahLst/>
            <a:cxnLst/>
            <a:rect l="l" t="t" r="r" b="b"/>
            <a:pathLst>
              <a:path w="9365976" h="9297860">
                <a:moveTo>
                  <a:pt x="9365976" y="0"/>
                </a:moveTo>
                <a:lnTo>
                  <a:pt x="0" y="0"/>
                </a:lnTo>
                <a:lnTo>
                  <a:pt x="0" y="9297860"/>
                </a:lnTo>
                <a:lnTo>
                  <a:pt x="9365976" y="9297860"/>
                </a:lnTo>
                <a:lnTo>
                  <a:pt x="9365976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17304" y="2802326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48264" y="1028700"/>
            <a:ext cx="16411036" cy="8229600"/>
          </a:xfrm>
          <a:custGeom>
            <a:avLst/>
            <a:gdLst/>
            <a:ahLst/>
            <a:cxnLst/>
            <a:rect l="l" t="t" r="r" b="b"/>
            <a:pathLst>
              <a:path w="16411036" h="8229600">
                <a:moveTo>
                  <a:pt x="0" y="0"/>
                </a:moveTo>
                <a:lnTo>
                  <a:pt x="16411036" y="0"/>
                </a:lnTo>
                <a:lnTo>
                  <a:pt x="164110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6000"/>
            </a:blip>
            <a:stretch>
              <a:fillRect t="-200677" r="-77874" b="-2006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1846949"/>
            <a:ext cx="5950445" cy="8914525"/>
          </a:xfrm>
          <a:custGeom>
            <a:avLst/>
            <a:gdLst/>
            <a:ahLst/>
            <a:cxnLst/>
            <a:rect l="l" t="t" r="r" b="b"/>
            <a:pathLst>
              <a:path w="5950445" h="8914525">
                <a:moveTo>
                  <a:pt x="0" y="0"/>
                </a:moveTo>
                <a:lnTo>
                  <a:pt x="5950445" y="0"/>
                </a:lnTo>
                <a:lnTo>
                  <a:pt x="5950445" y="8914524"/>
                </a:lnTo>
                <a:lnTo>
                  <a:pt x="0" y="89145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649730"/>
            <a:ext cx="16501764" cy="776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Single integrated platform for patient monitoring, emergency detection, hospital notification, and ambulance dispatch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Real-time monitoring of vital signs including Heart Rate, and ECG.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Machine Learning-based emergency detection and health risk prediction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Smart ambulance dispatch system with nearest hospital identification using GPS tracking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Centralized hospital ward dashboard for real-time patient monitoring and alert management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Automated emergency alerts and hospital notifications for faster medical response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Predictive healthcare analytics to identify critical conditions before emergencies occur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Cloud-based scalable architecture for future healthcare system expansion and integration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28600"/>
            <a:ext cx="13398281" cy="1409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3"/>
              </a:lnSpc>
            </a:pPr>
            <a:r>
              <a:rPr lang="en-US" sz="10766" b="1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SOLUTIONS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425221" y="-543622"/>
            <a:ext cx="5525617" cy="10287000"/>
          </a:xfrm>
          <a:custGeom>
            <a:avLst/>
            <a:gdLst/>
            <a:ahLst/>
            <a:cxnLst/>
            <a:rect l="l" t="t" r="r" b="b"/>
            <a:pathLst>
              <a:path w="5525617" h="10287000">
                <a:moveTo>
                  <a:pt x="0" y="0"/>
                </a:moveTo>
                <a:lnTo>
                  <a:pt x="5525617" y="0"/>
                </a:lnTo>
                <a:lnTo>
                  <a:pt x="55256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368" r="-8355" b="-101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14268866" cy="8537979"/>
          </a:xfrm>
          <a:custGeom>
            <a:avLst/>
            <a:gdLst/>
            <a:ahLst/>
            <a:cxnLst/>
            <a:rect l="l" t="t" r="r" b="b"/>
            <a:pathLst>
              <a:path w="14268866" h="8537979">
                <a:moveTo>
                  <a:pt x="0" y="0"/>
                </a:moveTo>
                <a:lnTo>
                  <a:pt x="14268866" y="0"/>
                </a:lnTo>
                <a:lnTo>
                  <a:pt x="14268866" y="8537979"/>
                </a:lnTo>
                <a:lnTo>
                  <a:pt x="0" y="8537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</a:blip>
            <a:stretch>
              <a:fillRect l="-2560" t="-97690" r="-20957" b="-940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308514" y="-95914"/>
            <a:ext cx="6240160" cy="6240160"/>
          </a:xfrm>
          <a:custGeom>
            <a:avLst/>
            <a:gdLst/>
            <a:ahLst/>
            <a:cxnLst/>
            <a:rect l="l" t="t" r="r" b="b"/>
            <a:pathLst>
              <a:path w="6240160" h="6240160">
                <a:moveTo>
                  <a:pt x="0" y="0"/>
                </a:moveTo>
                <a:lnTo>
                  <a:pt x="6240160" y="0"/>
                </a:lnTo>
                <a:lnTo>
                  <a:pt x="6240160" y="6240160"/>
                </a:lnTo>
                <a:lnTo>
                  <a:pt x="0" y="6240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767678" y="5641853"/>
            <a:ext cx="4840703" cy="5825791"/>
          </a:xfrm>
          <a:custGeom>
            <a:avLst/>
            <a:gdLst/>
            <a:ahLst/>
            <a:cxnLst/>
            <a:rect l="l" t="t" r="r" b="b"/>
            <a:pathLst>
              <a:path w="4840703" h="5825791">
                <a:moveTo>
                  <a:pt x="0" y="0"/>
                </a:moveTo>
                <a:lnTo>
                  <a:pt x="4840703" y="0"/>
                </a:lnTo>
                <a:lnTo>
                  <a:pt x="4840703" y="5825791"/>
                </a:lnTo>
                <a:lnTo>
                  <a:pt x="0" y="58257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901815" y="5641853"/>
            <a:ext cx="2704184" cy="2871238"/>
          </a:xfrm>
          <a:custGeom>
            <a:avLst/>
            <a:gdLst/>
            <a:ahLst/>
            <a:cxnLst/>
            <a:rect l="l" t="t" r="r" b="b"/>
            <a:pathLst>
              <a:path w="2704184" h="2871238">
                <a:moveTo>
                  <a:pt x="0" y="0"/>
                </a:moveTo>
                <a:lnTo>
                  <a:pt x="2704184" y="0"/>
                </a:lnTo>
                <a:lnTo>
                  <a:pt x="2704184" y="2871238"/>
                </a:lnTo>
                <a:lnTo>
                  <a:pt x="0" y="2871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432762" y="7515172"/>
            <a:ext cx="1273444" cy="720075"/>
          </a:xfrm>
          <a:custGeom>
            <a:avLst/>
            <a:gdLst/>
            <a:ahLst/>
            <a:cxnLst/>
            <a:rect l="l" t="t" r="r" b="b"/>
            <a:pathLst>
              <a:path w="1273444" h="720075">
                <a:moveTo>
                  <a:pt x="0" y="0"/>
                </a:moveTo>
                <a:lnTo>
                  <a:pt x="1273444" y="0"/>
                </a:lnTo>
                <a:lnTo>
                  <a:pt x="1273444" y="720075"/>
                </a:lnTo>
                <a:lnTo>
                  <a:pt x="0" y="720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201409" y="8776350"/>
            <a:ext cx="5504797" cy="4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3782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R26-IT-057 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-5759554" y="-95914"/>
            <a:ext cx="9365976" cy="9297860"/>
          </a:xfrm>
          <a:custGeom>
            <a:avLst/>
            <a:gdLst/>
            <a:ahLst/>
            <a:cxnLst/>
            <a:rect l="l" t="t" r="r" b="b"/>
            <a:pathLst>
              <a:path w="9365976" h="9297860">
                <a:moveTo>
                  <a:pt x="9365976" y="0"/>
                </a:moveTo>
                <a:lnTo>
                  <a:pt x="0" y="0"/>
                </a:lnTo>
                <a:lnTo>
                  <a:pt x="0" y="9297860"/>
                </a:lnTo>
                <a:lnTo>
                  <a:pt x="9365976" y="9297860"/>
                </a:lnTo>
                <a:lnTo>
                  <a:pt x="9365976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80458" y="4145539"/>
            <a:ext cx="12744763" cy="19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21"/>
              </a:lnSpc>
            </a:pPr>
            <a:r>
              <a:rPr lang="en-US" sz="15279" b="1" dirty="0">
                <a:solidFill>
                  <a:srgbClr val="8D140B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509</Words>
  <Application>Microsoft Office PowerPoint</Application>
  <PresentationFormat>Custom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Inter Bold</vt:lpstr>
      <vt:lpstr>Arial</vt:lpstr>
      <vt:lpstr>Bricolage Grotesque Bold</vt:lpstr>
      <vt:lpstr>Calibri</vt:lpstr>
      <vt:lpstr>Roboto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Band</dc:title>
  <dc:creator>Dinethi Senarath</dc:creator>
  <cp:lastModifiedBy>DEWAPRIYA K M S S it22180070</cp:lastModifiedBy>
  <cp:revision>5</cp:revision>
  <dcterms:created xsi:type="dcterms:W3CDTF">2006-08-16T00:00:00Z</dcterms:created>
  <dcterms:modified xsi:type="dcterms:W3CDTF">2026-08-31T05:35:28Z</dcterms:modified>
  <dc:identifier>DAHJOlWDmt8</dc:identifier>
</cp:coreProperties>
</file>